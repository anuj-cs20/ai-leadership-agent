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Adobe Inc. — Q3 2024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to: Board of Directors</a:t>
            </a:r>
          </a:p>
          <a:p>
            <a:r>
              <a:t>Date: October 2024 | Prepared by: Office of the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2024 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Revenue: $48.7M (+8.0% QoQ, +24.2% YoY)</a:t>
            </a:r>
          </a:p>
          <a:p>
            <a:pPr>
              <a:spcAft>
                <a:spcPts val="800"/>
              </a:spcAft>
              <a:defRPr sz="1600"/>
            </a:pPr>
            <a:r>
              <a:t>Gross Margin: 71.5% (+0.8pp QoQ)</a:t>
            </a:r>
          </a:p>
          <a:p>
            <a:pPr>
              <a:spcAft>
                <a:spcPts val="800"/>
              </a:spcAft>
              <a:defRPr sz="1600"/>
            </a:pPr>
            <a:r>
              <a:t>Operating Income: $8.1M (+15.7% QoQ)</a:t>
            </a:r>
          </a:p>
          <a:p>
            <a:pPr>
              <a:spcAft>
                <a:spcPts val="800"/>
              </a:spcAft>
              <a:defRPr sz="1600"/>
            </a:pPr>
            <a:r>
              <a:t>Net Income: $6.5M (+16.1% QoQ)</a:t>
            </a:r>
          </a:p>
          <a:p>
            <a:pPr>
              <a:spcAft>
                <a:spcPts val="800"/>
              </a:spcAft>
              <a:defRPr sz="1600"/>
            </a:pPr>
            <a:r>
              <a:t>FY 2024 run-rate: $188.5M — on track to exceed guidance of $187-190M</a:t>
            </a:r>
          </a:p>
          <a:p>
            <a:pPr>
              <a:spcAft>
                <a:spcPts val="800"/>
              </a:spcAft>
              <a:defRPr sz="1600"/>
            </a:pPr>
            <a:r>
              <a:t>Enterprise Solutions drove 63% of Q3 revenue ($30.8M, +9.6% QoQ)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 Performance Scorecards — 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Engineering: 87/100 ✓ On Target — 94% feature delivery, 312 engineers</a:t>
            </a:r>
          </a:p>
          <a:p>
            <a:pPr>
              <a:spcAft>
                <a:spcPts val="800"/>
              </a:spcAft>
              <a:defRPr sz="1600"/>
            </a:pPr>
            <a:r>
              <a:t>Sales: 95/100 ★ Exceeding — 112% quota attainment, 3 Fortune 500 wins</a:t>
            </a:r>
          </a:p>
          <a:p>
            <a:pPr>
              <a:spcAft>
                <a:spcPts val="800"/>
              </a:spcAft>
              <a:defRPr sz="1600"/>
            </a:pPr>
            <a:r>
              <a:t>Marketing: 58/100 ✗ Below Target — MQL at 72% of target, paid ROI declining</a:t>
            </a:r>
          </a:p>
          <a:p>
            <a:pPr>
              <a:spcAft>
                <a:spcPts val="800"/>
              </a:spcAft>
              <a:defRPr sz="1600"/>
            </a:pPr>
            <a:r>
              <a:t>Customer Support: 52/100 ✗ Below Target — CSAT 68% (down from 82%), 7.8hr resolution</a:t>
            </a:r>
          </a:p>
          <a:p>
            <a:pPr>
              <a:spcAft>
                <a:spcPts val="800"/>
              </a:spcAft>
              <a:defRPr sz="1600"/>
            </a:pPr>
            <a:r>
              <a:t>Operations: 88/100 ✓ On Target — 99.94% uptime, 47 releases/month</a:t>
            </a:r>
          </a:p>
          <a:p>
            <a:pPr>
              <a:spcAft>
                <a:spcPts val="800"/>
              </a:spcAft>
              <a:defRPr sz="1600"/>
            </a:pPr>
            <a:r>
              <a:t>HR / People: 62/100 ✗ Below Target — 23% turnover vs. 15%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 — Q3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Client Concentration: Top 3 clients = 35% of revenue ($17.0M in Q3)</a:t>
            </a:r>
          </a:p>
          <a:p>
            <a:pPr>
              <a:spcAft>
                <a:spcPts val="800"/>
              </a:spcAft>
              <a:defRPr sz="1600"/>
            </a:pPr>
            <a:r>
              <a:t>Cybersecurity: OAuth vulnerability discovered Sep 14, patched within 48 hours</a:t>
            </a:r>
          </a:p>
          <a:p>
            <a:pPr>
              <a:spcAft>
                <a:spcPts val="800"/>
              </a:spcAft>
              <a:defRPr sz="1600"/>
            </a:pPr>
            <a:r>
              <a:t>Supply Chain: Semiconductor delays impacted 18 customers, $2.1M deferred revenue</a:t>
            </a:r>
          </a:p>
          <a:p>
            <a:pPr>
              <a:spcAft>
                <a:spcPts val="800"/>
              </a:spcAft>
              <a:defRPr sz="1600"/>
            </a:pPr>
            <a:r>
              <a:t>Regulatory: EU DSA deadline accelerated to Q1 2025, $1.2M additional compliance budget</a:t>
            </a:r>
          </a:p>
          <a:p>
            <a:pPr>
              <a:spcAft>
                <a:spcPts val="800"/>
              </a:spcAft>
              <a:defRPr sz="1600"/>
            </a:pPr>
            <a:r>
              <a:t>Talent: 24.8% annualized turnover, Engineering lost 18 senior developers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